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sp>
      <p:sp>
        <p:nvSpPr>
          <p:cNvPr id="3" name="Text 1"/>
          <p:cNvSpPr/>
          <p:nvPr/>
        </p:nvSpPr>
        <p:spPr>
          <a:xfrm>
            <a:off x="661035" y="1927225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5.1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6125" y="2327275"/>
            <a:ext cx="10698480" cy="767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Simulación del proceso productivo</a:t>
            </a:r>
            <a:endParaRPr lang="en-US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 la Industria Bloquera del Sureste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035" y="312928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de usuario y Manual de desarrollador</a:t>
            </a:r>
            <a:endParaRPr lang="en-US" sz="15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 · Camunda · Bonita · Bizagi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5520" y="3940810"/>
            <a:ext cx="10698480" cy="5372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Asignatura: Simulación (SCD-1022)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ctr">
              <a:buNone/>
            </a:pPr>
            <a:endParaRPr lang="en-US" sz="13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· </a:t>
            </a:r>
            <a:endParaRPr lang="en-US" sz="13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5520" y="5288915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Manager: Amaury Jahaziel Gordillo Hernández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 bwMode="auto">
          <a:xfrm>
            <a:off x="176530" y="236220"/>
            <a:ext cx="1516380" cy="10896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uadroTexto 13"/>
          <p:cNvSpPr txBox="1"/>
          <p:nvPr/>
        </p:nvSpPr>
        <p:spPr>
          <a:xfrm>
            <a:off x="2160905" y="342265"/>
            <a:ext cx="71247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b="1" kern="100" dirty="0">
                <a:effectLst/>
                <a:latin typeface="Arial" panose="020B0604020202020204" pitchFamily="34" charset="0"/>
                <a:ea typeface="Calibri" panose="020F0502020204030204" charset="0"/>
                <a:cs typeface="Times New Roman" panose="02020603050405020304" pitchFamily="18" charset="0"/>
              </a:rPr>
              <a:t>TECNOLÓGICO NACIONAL DE MÉXICO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charset="0"/>
                <a:cs typeface="Times New Roman" panose="02020603050405020304" pitchFamily="18" charset="0"/>
              </a:rPr>
              <a:t>UNIDAD ACADÉMICA VENUSTIANO CARRANZA</a:t>
            </a:r>
            <a:endParaRPr lang="es-MX" sz="2000" b="1" kern="100" dirty="0">
              <a:effectLst/>
              <a:latin typeface="Arial" panose="020B0604020202020204" pitchFamily="3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pic>
        <p:nvPicPr>
          <p:cNvPr id="22" name="Imagen 21" descr="Logotipo&#10;&#10;Descripción generada automáticamente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2125" y="236220"/>
            <a:ext cx="2301875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CuadroTexto 15"/>
          <p:cNvSpPr txBox="1"/>
          <p:nvPr/>
        </p:nvSpPr>
        <p:spPr>
          <a:xfrm>
            <a:off x="2675154" y="1413183"/>
            <a:ext cx="6096000" cy="32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4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1400" b="1" kern="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003425" y="4401185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DOCENTE: Ing. Francisco Javier Mingo Velázquez</a:t>
            </a:r>
            <a:endParaRPr lang="en-US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160905" y="4867275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PRESENTA: José Ángel Gómez Rincón  |  Matrícula: 241260049  |  Semestre: Quinto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895475" y="5890895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altLang="en-US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04 </a:t>
            </a:r>
            <a:r>
              <a:rPr lang="en-US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de </a:t>
            </a:r>
            <a:r>
              <a:rPr lang="es-MX" altLang="en-US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r>
              <a:rPr lang="en-US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de 2026  ·  Venustiano Carranza, Chiapas</a:t>
            </a:r>
            <a:endParaRPr lang="en-US" sz="1200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Índice de contenido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Introducción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Objetivo general y específicos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Justificación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Marco teórico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Proceso simulado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Comparativo de herramientas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Manual de usuario (visión general)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Manual de usuario · JavaFX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Manual de usuario · Camunda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1663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Manual de usuario · Bonita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 Manual de usuario · Bizagi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051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 Manual de desarrollador (visión)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13. Desarrollador · JavaFX (1/2)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14. Desarrollador · JavaFX (2/2)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15. Desarrollador · Camunda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16. Desarrollador · Bonita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337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17. Desarrollador · Bizagi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 Resultados y escenarios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2519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19. Fuentes de información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47091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 Anexo Git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51663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21. Conclusiones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Introducción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 Industria Bloquera del Sureste es una microempresa de fabricación de blocks. El proceso es manual, con dos cuadrillas (Don José y Víctor), revolvedora compartida y cuello de botella en la mezcla. Este proyecto integrador documenta el modelado BPMN 2.0, la simulación en JavaFX y el uso obligatorio de Camunda, Bonita y Bizagi.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8EAF6"/>
          </a:solidFill>
        </p:spPr>
      </p:sp>
      <p:sp>
        <p:nvSpPr>
          <p:cNvPr id="6" name="Text 4"/>
          <p:cNvSpPr/>
          <p:nvPr/>
        </p:nvSpPr>
        <p:spPr>
          <a:xfrm>
            <a:off x="594360" y="242316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715768"/>
            <a:ext cx="338328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Espera en revolvedora, desgaste físico y poca visibilidad de cuellos de botella.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8EAF6"/>
          </a:solidFill>
        </p:spPr>
      </p:sp>
      <p:sp>
        <p:nvSpPr>
          <p:cNvPr id="9" name="Text 7"/>
          <p:cNvSpPr/>
          <p:nvPr/>
        </p:nvSpPr>
        <p:spPr>
          <a:xfrm>
            <a:off x="4434840" y="242316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Alcance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2715768"/>
            <a:ext cx="338328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Producción: espera, mezcla, carretilla, moldeo, hidratación, secado y almacén.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331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8EAF6"/>
          </a:solidFill>
        </p:spPr>
      </p:sp>
      <p:sp>
        <p:nvSpPr>
          <p:cNvPr id="12" name="Text 10"/>
          <p:cNvSpPr/>
          <p:nvPr/>
        </p:nvSpPr>
        <p:spPr>
          <a:xfrm>
            <a:off x="8275320" y="242316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2715768"/>
            <a:ext cx="338328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 (simulación ejecutable) + Camunda, Bonita y Bizagi (BPMN).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1: 1 revolvedora (situación actual). Escenario 2: 2 revolvedoras (mejora sin espera en mezcla).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Documentos base: D1 diagrama, D2 tiempos, D3 diseño, D4 simulación, D5 cambios y resultados.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Objetivo general y específicos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594360" y="114300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Desarrollar y documentar un modelo de simulación del proceso productivo de la Industria Bloquera del Sureste, con manuales de usuario y de desarrollador que cubran JavaFX, Camunda, Bonita y Bizagi, para analizar tiempos, utilización y cuellos de botella.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 Modelar el proceso en BPMN 2.0 con dos cuadrillas y proceso de secado.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 Implementar simulación JavaFX con escenarios de 1 y 2 revolvedoras.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 Elaborar manual de usuario de JavaFX, Camunda, Bonita y Bizagi.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 Elaborar manual de desarrollador paso a paso de las cuatro herramientas.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 Comparar Camunda, Bonita y Bizagi (plugins, actores, dificultad).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 Analizar indicadores: bolsas, bloques, espera, utilización y almacén.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Justificación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594360" y="114300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Necesidad real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Medir espera y producción sin detener la planta; proponer segunda revolvedora con evidencia numérica.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</p:spPr>
      </p:sp>
      <p:sp>
        <p:nvSpPr>
          <p:cNvPr id="8" name="Text 6"/>
          <p:cNvSpPr/>
          <p:nvPr/>
        </p:nvSpPr>
        <p:spPr>
          <a:xfrm>
            <a:off x="594360" y="237744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Requisito académico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Cumple instrumentación SCD-1022: modelado, experimentación y herramientas computacionales.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11" name="Text 9"/>
          <p:cNvSpPr/>
          <p:nvPr/>
        </p:nvSpPr>
        <p:spPr>
          <a:xfrm>
            <a:off x="594360" y="361188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Cuatro herramientas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90448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 ejecuta la simulación; Camunda, Bonita y Bizagi documentan y validan el proceso BPMN.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</p:spPr>
      </p:sp>
      <p:sp>
        <p:nvSpPr>
          <p:cNvPr id="14" name="Text 12"/>
          <p:cNvSpPr/>
          <p:nvPr/>
        </p:nvSpPr>
        <p:spPr>
          <a:xfrm>
            <a:off x="594360" y="484632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138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Manuales de usuario y desarrollador + Git permiten reproducir y auditar todo el trabajo.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Marco teórico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502920" y="114300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 de un sistema real para experimentar escenarios sin alterar la operación física.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05156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8" name="Text 6"/>
          <p:cNvSpPr/>
          <p:nvPr/>
        </p:nvSpPr>
        <p:spPr>
          <a:xfrm>
            <a:off x="6355080" y="114300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BPMN 2.0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43560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Estándar OMG: eventos, tareas, compuertas, lanes y flujos de secuencia.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11" name="Text 9"/>
          <p:cNvSpPr/>
          <p:nvPr/>
        </p:nvSpPr>
        <p:spPr>
          <a:xfrm>
            <a:off x="502920" y="283464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Eventos discretos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 tiempo avanza por eventos (inicio mezcla, fin moldeo, liberar revolvedora).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14" name="Text 12"/>
          <p:cNvSpPr/>
          <p:nvPr/>
        </p:nvSpPr>
        <p:spPr>
          <a:xfrm>
            <a:off x="6355080" y="283464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Recursos y colas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12724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 revolvedora es recurso limitado; genera cola de espera y afecta utilización.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43484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17" name="Text 15"/>
          <p:cNvSpPr/>
          <p:nvPr/>
        </p:nvSpPr>
        <p:spPr>
          <a:xfrm>
            <a:off x="502920" y="452628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1888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Roles asignados a lanes o User Tasks; necesarios en procesos ejecutables.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43484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20" name="Text 18"/>
          <p:cNvSpPr/>
          <p:nvPr/>
        </p:nvSpPr>
        <p:spPr>
          <a:xfrm>
            <a:off x="6355080" y="452628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Indicadores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81888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Tiempo de ciclo, utilización, espera, throughput y ocupación del recurso crítico.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Descripción del proceso simulado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Proceso 1 · Producción (hasta 6 días)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FF3E0"/>
          </a:solidFill>
        </p:spPr>
      </p:sp>
      <p:sp>
        <p:nvSpPr>
          <p:cNvPr id="6" name="Text 4"/>
          <p:cNvSpPr/>
          <p:nvPr/>
        </p:nvSpPr>
        <p:spPr>
          <a:xfrm>
            <a:off x="36576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8" name="Text 6"/>
          <p:cNvSpPr/>
          <p:nvPr/>
        </p:nvSpPr>
        <p:spPr>
          <a:xfrm>
            <a:off x="233172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Mezcla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~11.2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10" name="Text 8"/>
          <p:cNvSpPr/>
          <p:nvPr/>
        </p:nvSpPr>
        <p:spPr>
          <a:xfrm>
            <a:off x="429768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Carretilla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~5.3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12" name="Text 10"/>
          <p:cNvSpPr/>
          <p:nvPr/>
        </p:nvSpPr>
        <p:spPr>
          <a:xfrm>
            <a:off x="626364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Moldeo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DJ / VT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14" name="Text 12"/>
          <p:cNvSpPr/>
          <p:nvPr/>
        </p:nvSpPr>
        <p:spPr>
          <a:xfrm>
            <a:off x="822960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Hidratación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9556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16" name="Text 14"/>
          <p:cNvSpPr/>
          <p:nvPr/>
        </p:nvSpPr>
        <p:spPr>
          <a:xfrm>
            <a:off x="1019556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Terminada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 José 6–8 bolsas/día · Víctor 3–4 bolsas (4 o 5 de 6 días) · 1 bolsa = 50 bloques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34640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Proceso 2 · Secado 15 h → Retiro 1 h/lote → Almacén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8EAF6"/>
          </a:solidFill>
        </p:spPr>
      </p:sp>
      <p:sp>
        <p:nvSpPr>
          <p:cNvPr id="20" name="Text 18"/>
          <p:cNvSpPr/>
          <p:nvPr/>
        </p:nvSpPr>
        <p:spPr>
          <a:xfrm>
            <a:off x="594360" y="333756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1 · Actual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630168"/>
            <a:ext cx="521208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revolvedora compartida. Genera espera (cuello de botella). Representa la planta real.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24612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8F5E9"/>
          </a:solidFill>
        </p:spPr>
      </p:sp>
      <p:sp>
        <p:nvSpPr>
          <p:cNvPr id="23" name="Text 21"/>
          <p:cNvSpPr/>
          <p:nvPr/>
        </p:nvSpPr>
        <p:spPr>
          <a:xfrm>
            <a:off x="6355080" y="333756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2 · Mejora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3630168"/>
            <a:ext cx="521208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revolvedoras (una por cuadrilla). Sin espera en mezcla. Mayor paralelismo.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Tiempos D2: mezcla 11.23 min · transporte 5.25 min · moldeo DJ 36.25 min · moldeo VT ~72.5 min · retiro 60 min.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Cuadro comparativo: Camunda, Bonita y Bizagi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80360" cy="384048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5" name="Text 3"/>
          <p:cNvSpPr/>
          <p:nvPr/>
        </p:nvSpPr>
        <p:spPr>
          <a:xfrm>
            <a:off x="274320" y="1097280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Criterio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880360" cy="384048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7" name="Text 5"/>
          <p:cNvSpPr/>
          <p:nvPr/>
        </p:nvSpPr>
        <p:spPr>
          <a:xfrm>
            <a:off x="3200400" y="1097280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Camunda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051560"/>
            <a:ext cx="2880360" cy="384048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9" name="Text 7"/>
          <p:cNvSpPr/>
          <p:nvPr/>
        </p:nvSpPr>
        <p:spPr>
          <a:xfrm>
            <a:off x="6126480" y="1097280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Bonita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52560" y="1051560"/>
            <a:ext cx="2880360" cy="384048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11" name="Text 9"/>
          <p:cNvSpPr/>
          <p:nvPr/>
        </p:nvSpPr>
        <p:spPr>
          <a:xfrm>
            <a:off x="9052560" y="1097280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Bizagi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35608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3" name="Text 11"/>
          <p:cNvSpPr/>
          <p:nvPr/>
        </p:nvSpPr>
        <p:spPr>
          <a:xfrm>
            <a:off x="320040" y="154533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Facilidad de uso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35608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5" name="Text 13"/>
          <p:cNvSpPr/>
          <p:nvPr/>
        </p:nvSpPr>
        <p:spPr>
          <a:xfrm>
            <a:off x="3246120" y="154533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435608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7" name="Text 15"/>
          <p:cNvSpPr/>
          <p:nvPr/>
        </p:nvSpPr>
        <p:spPr>
          <a:xfrm>
            <a:off x="6172200" y="154533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Baja (más difícil)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1435608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9" name="Text 17"/>
          <p:cNvSpPr/>
          <p:nvPr/>
        </p:nvSpPr>
        <p:spPr>
          <a:xfrm>
            <a:off x="9098280" y="154533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1" name="Text 19"/>
          <p:cNvSpPr/>
          <p:nvPr/>
        </p:nvSpPr>
        <p:spPr>
          <a:xfrm>
            <a:off x="320040" y="207568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Modelado BPMN 2.0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965960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3" name="Text 21"/>
          <p:cNvSpPr/>
          <p:nvPr/>
        </p:nvSpPr>
        <p:spPr>
          <a:xfrm>
            <a:off x="3246120" y="207568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965960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5" name="Text 23"/>
          <p:cNvSpPr/>
          <p:nvPr/>
        </p:nvSpPr>
        <p:spPr>
          <a:xfrm>
            <a:off x="6172200" y="207568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1965960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7" name="Text 25"/>
          <p:cNvSpPr/>
          <p:nvPr/>
        </p:nvSpPr>
        <p:spPr>
          <a:xfrm>
            <a:off x="9098280" y="207568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496312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29" name="Text 27"/>
          <p:cNvSpPr/>
          <p:nvPr/>
        </p:nvSpPr>
        <p:spPr>
          <a:xfrm>
            <a:off x="320040" y="260604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Simulación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496312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31" name="Text 29"/>
          <p:cNvSpPr/>
          <p:nvPr/>
        </p:nvSpPr>
        <p:spPr>
          <a:xfrm>
            <a:off x="3246120" y="260604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Plugins / motor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496312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33" name="Text 31"/>
          <p:cNvSpPr/>
          <p:nvPr/>
        </p:nvSpPr>
        <p:spPr>
          <a:xfrm>
            <a:off x="6172200" y="260604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Integrada avanzada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52560" y="2496312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35" name="Text 33"/>
          <p:cNvSpPr/>
          <p:nvPr/>
        </p:nvSpPr>
        <p:spPr>
          <a:xfrm>
            <a:off x="9098280" y="260604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Studio / limitada free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026664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7" name="Text 35"/>
          <p:cNvSpPr/>
          <p:nvPr/>
        </p:nvSpPr>
        <p:spPr>
          <a:xfrm>
            <a:off x="320040" y="3136392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Actores / lanes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026664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9" name="Text 37"/>
          <p:cNvSpPr/>
          <p:nvPr/>
        </p:nvSpPr>
        <p:spPr>
          <a:xfrm>
            <a:off x="3246120" y="3136392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 (obligatorio)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3026664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1" name="Text 39"/>
          <p:cNvSpPr/>
          <p:nvPr/>
        </p:nvSpPr>
        <p:spPr>
          <a:xfrm>
            <a:off x="6172200" y="3136392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 (roles)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52560" y="3026664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3" name="Text 41"/>
          <p:cNvSpPr/>
          <p:nvPr/>
        </p:nvSpPr>
        <p:spPr>
          <a:xfrm>
            <a:off x="9098280" y="3136392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 (fácil)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557016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45" name="Text 43"/>
          <p:cNvSpPr/>
          <p:nvPr/>
        </p:nvSpPr>
        <p:spPr>
          <a:xfrm>
            <a:off x="320040" y="3666744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Curva aprendizaje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3557016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47" name="Text 45"/>
          <p:cNvSpPr/>
          <p:nvPr/>
        </p:nvSpPr>
        <p:spPr>
          <a:xfrm>
            <a:off x="3246120" y="3666744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Moderada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26480" y="3557016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49" name="Text 47"/>
          <p:cNvSpPr/>
          <p:nvPr/>
        </p:nvSpPr>
        <p:spPr>
          <a:xfrm>
            <a:off x="6172200" y="3666744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Alta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052560" y="3557016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51" name="Text 49"/>
          <p:cNvSpPr/>
          <p:nvPr/>
        </p:nvSpPr>
        <p:spPr>
          <a:xfrm>
            <a:off x="9098280" y="3666744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Baja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087368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3" name="Text 51"/>
          <p:cNvSpPr/>
          <p:nvPr/>
        </p:nvSpPr>
        <p:spPr>
          <a:xfrm>
            <a:off x="320040" y="419709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Código abierto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4087368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5" name="Text 53"/>
          <p:cNvSpPr/>
          <p:nvPr/>
        </p:nvSpPr>
        <p:spPr>
          <a:xfrm>
            <a:off x="3246120" y="419709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Community sí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26480" y="4087368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7" name="Text 55"/>
          <p:cNvSpPr/>
          <p:nvPr/>
        </p:nvSpPr>
        <p:spPr>
          <a:xfrm>
            <a:off x="6172200" y="419709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Community sí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052560" y="4087368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9" name="Text 57"/>
          <p:cNvSpPr/>
          <p:nvPr/>
        </p:nvSpPr>
        <p:spPr>
          <a:xfrm>
            <a:off x="9098280" y="419709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Modeler gratis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617720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61" name="Text 59"/>
          <p:cNvSpPr/>
          <p:nvPr/>
        </p:nvSpPr>
        <p:spPr>
          <a:xfrm>
            <a:off x="320040" y="472744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Plugins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0" y="4617720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63" name="Text 61"/>
          <p:cNvSpPr/>
          <p:nvPr/>
        </p:nvSpPr>
        <p:spPr>
          <a:xfrm>
            <a:off x="3246120" y="472744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 para simular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126480" y="4617720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65" name="Text 63"/>
          <p:cNvSpPr/>
          <p:nvPr/>
        </p:nvSpPr>
        <p:spPr>
          <a:xfrm>
            <a:off x="6172200" y="472744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Menos dependiente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052560" y="4617720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67" name="Text 65"/>
          <p:cNvSpPr/>
          <p:nvPr/>
        </p:nvSpPr>
        <p:spPr>
          <a:xfrm>
            <a:off x="9098280" y="472744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Pocos en modelado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" y="5148072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69" name="Text 67"/>
          <p:cNvSpPr/>
          <p:nvPr/>
        </p:nvSpPr>
        <p:spPr>
          <a:xfrm>
            <a:off x="320040" y="5257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Ideal para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200400" y="5148072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71" name="Text 69"/>
          <p:cNvSpPr/>
          <p:nvPr/>
        </p:nvSpPr>
        <p:spPr>
          <a:xfrm>
            <a:off x="3246120" y="5257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Dev / automatización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126480" y="5148072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73" name="Text 71"/>
          <p:cNvSpPr/>
          <p:nvPr/>
        </p:nvSpPr>
        <p:spPr>
          <a:xfrm>
            <a:off x="6172200" y="5257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BPM completo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052560" y="5148072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75" name="Text 73"/>
          <p:cNvSpPr/>
          <p:nvPr/>
        </p:nvSpPr>
        <p:spPr>
          <a:xfrm>
            <a:off x="9098280" y="5257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Documentar / analizar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Manual de usuario · Visión general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Este manual explica cómo utilizar cada herramienta del proyecto. Es obligatorio cubrir las cuatro.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6" name="Text 4"/>
          <p:cNvSpPr/>
          <p:nvPr/>
        </p:nvSpPr>
        <p:spPr>
          <a:xfrm>
            <a:off x="594360" y="173736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Simulación gráfica ejecutable: iniciar, pausar, escenarios, Proceso 2, resultados y CSV.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9" name="Text 7"/>
          <p:cNvSpPr/>
          <p:nvPr/>
        </p:nvSpPr>
        <p:spPr>
          <a:xfrm>
            <a:off x="6446520" y="173736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Camunda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02996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Abrir y recorrer el diagrama BPMN, validar, y (con plugin/motor) simular tokens.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12" name="Text 10"/>
          <p:cNvSpPr/>
          <p:nvPr/>
        </p:nvSpPr>
        <p:spPr>
          <a:xfrm>
            <a:off x="594360" y="384048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Bonita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Abrir el proyecto Studio, mapear actores y ejecutar instancias en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15" name="Text 13"/>
          <p:cNvSpPr/>
          <p:nvPr/>
        </p:nvSpPr>
        <p:spPr>
          <a:xfrm>
            <a:off x="6446520" y="384048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Bizagi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13308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Abrir el modelo, validar BPMN, exportar y (en Studio) simular tiempos/costos.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Manual de usuario · JavaFX (simulación)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Abrir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IntelliJ → Open → carpeta SimulacionBloquera. Esperar dependencias Maven.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Ejecutar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 en Launcher o MainApplication. Ventana maximizada con minimizar/cerrar.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Escenario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Combo: Escenario 1 (1 revolvedora) o Escenario 2 (2 revolvedoras). Solo al inicio o tras Reiniciar.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02336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Velocidad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Lenta / Normal / Rápida / Muy rápida. Los relojes muestran tiempo real de operación.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502920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Controles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530352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Iniciar arranca 6 días. Pausar detiene. Reiniciar genera nuevos objetivos diarios.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00584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KPIs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28016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Estado, reloj DJ, reloj VT, día, revolvedora (LIBRE/OCUPADA), almacén.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01168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Proceso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Tras producción: secado 15 h, retiro por lotes de 50 bloques, almacén.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Resultados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Botón Resultados y Guardar CSV para evidencia (bolsas, espera, utilización).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Tiempos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29768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Editar mezcla, transporte, moldeo, hidratación, secado y retiro sin recompilar.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Manual de usuario · Camunda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Instalar Camunda Modeler (camunda.com/download/modeler).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File → Open File → seleccionar el archivo .bpmn del proyecto (Diagrama Bloquera).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Revisar el Pool «Industria Bloquera del Sureste» y los dos lanes (Don José / Víctor).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Seguir el flujo: Inicio → Dividir trabajo → Espera Revolvedora → Mezcla → Transporte → Moldeo → Hidratación.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Comprobar el gateway de unión, luego Secado → Retiro → Almacén → Fin.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Clic en cada User Task → panel Properties → ver nombre y, si aplica, Assignee (actor).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Validar el diagrama con el icono de errores del modeler (conexiones y elementos huérfanos).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Simulación de tokens: instalar plugin «Token Simulation» o desplegar en Camunda Run/Platform.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Sin plugin o motor solo se visualiza el diagrama; no hay avance dinámico de instancias.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Manual de usuario · Bonita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Instalar Bonita Studio Community e iniciar sesión/workspace local.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File → Import o Open Project → carpeta/proyecto de la bloquera (o importar el .bos si aplica).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En el explorador del proyecto abrir el diagrama BPMN del proceso productivo.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Verificar lanes y actores: DonJosé, Victor, PersonalRetiro (Organization → Actors).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Abrir una User Task → pestaña Actors: comprobar que el actor asignado coincide con el lane.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Run (o Configure) → mapear actores a usuarios de prueba → lanzar el proceso en Runtime.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En el portal de tareas, completar pasos (mezcla, moldeo, etc.) según el actor logueado.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Observar el historial de instancias para ver el camino tomado por cada bolsa/lote.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Nota de uso: Bonita exige más clics (proyecto, actores, mapping); es la herramienta más compleja de las tres.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 Manual de usuario · Bizagi (Visaggi)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Instalar Bizagi Modeler (versión gratuita) desde bizagi.com.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File → Open → abrir el modelo «Diagrama Bloquera» o «Industria Bloquera del Sureste».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Localizar el Pool y los lanes Cuadrilla Don José y Cuadrilla Víctor.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Recorrer visualmente: Inicio → gateway Dividir → tareas de cada lane → gateway Unir.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Continuar Secado → Retiro → Almacén → Fin. Verificar que no haya flechas sueltas.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Clic derecho / Properties en una tarea para ver nombre y recursos si están definidos.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Usar la validación BPMN integrada (panel de errores) y corregir si aparece algún aviso.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Exportar a PDF o a archivo .bpmn para entregar evidencia del diagrama.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Simulación de tiempos/costos: disponible en Bizagi Studio (edición de pago); el Modeler free prioriza documentación.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 Manual de desarrollador · Visión general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Este manual describe cómo se construyó cada artefacto del proyecto. Es obligatorio documentar las cuatro herramientas.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6" name="Text 4"/>
          <p:cNvSpPr/>
          <p:nvPr/>
        </p:nvSpPr>
        <p:spPr>
          <a:xfrm>
            <a:off x="594360" y="173736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Maven, FXML, modelo de dominio, motor de simulación, AnimationTimer y exportación CSV.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9" name="Text 7"/>
          <p:cNvSpPr/>
          <p:nvPr/>
        </p:nvSpPr>
        <p:spPr>
          <a:xfrm>
            <a:off x="6446520" y="173736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Camunda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02996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Diagrama BPMN 2.0 en Modeler, lanes, gateways, User Tasks, actores y plugin de simulación.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12" name="Text 10"/>
          <p:cNvSpPr/>
          <p:nvPr/>
        </p:nvSpPr>
        <p:spPr>
          <a:xfrm>
            <a:off x="594360" y="384048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Bonita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Studio, organización, actores, mapeo a tareas, variables y ejecución en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15" name="Text 13"/>
          <p:cNvSpPr/>
          <p:nvPr/>
        </p:nvSpPr>
        <p:spPr>
          <a:xfrm>
            <a:off x="6446520" y="384048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Bizagi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13308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 visual, pool/lanes, validación BPMN, exportación y (opcional) simulación en Studio.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13. Manual de desarrollador · JavaFX (1/2)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1 · Maven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JavaFX IntelliJ, groupId com.angelsystems, artifact SimulacionBloquera, JDK 21. Dependencias: javafx-controls, javafx-fxml, controlsfx, bootstrapfx.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2 · module-info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requires javafx.controls/fxml/graphics; opens controller y model a javafx.fxml; exports de paquetes públicos.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3 · FXML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main-view.fxml: KPIs, botones, ComboBox escenario/velocidad, Canvas. fx:controller = MainController.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4 · Modelo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Etapa, Escenario, Bolsa, EstadisticasCuadrilla, ConfigTiempos (tiempos D2), MotorSimulacion (días, revolvedora, secado).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29768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5 · Motor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tickProduccion: crear bolsa, ESPERA/MEZCLA/TRANSPORTE/MOLDEO/HIDRATACION, liberar revolvedora, almuerzo tras B3 DJ.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512064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6 · Escenarios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39496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1: revolvedora compartida. Escenario 2: dos revolvedoras; sin estación Espera; círculos al inicio de línea.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14. Manual de desarrollador · JavaFX (2/2)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7 · Proceso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Colas por cuadrilla, secado 15 h, retiro alternado 60 min/lote, +50 bloques al almacén hasta vaciar.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8 · Controlador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MainController: @FXML, AnimationTimer (dt×velocidad), GraphicsContext, Platform.runLater para Alert.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9 · Application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FXMLLoader, Scene, setResizable(true), setMaximized(true) para botones del sistema.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10 · Exportación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FileChooser + CSV con bolsas, bloques, espera, utilización, almacén (evidencia D5/D6).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29768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11 · Pruebas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días en ambos escenarios; verificar almuerzo, Proceso 2 y ausencia de IllegalStateException.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512064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12 · Entrega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39496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ZIP Maven completo (src, pom, module-info, resources) listo para IntelliJ.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15. Manual de desarrollador · Camunda (paso a paso)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Crear diagrama BPMN vacío en Camunda Modeler; nombre del proceso: Industria Bloquera del Sureste.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Insertar Pool y dos Lanes (Cuadrilla Don José, Cuadrilla Víctor).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Start Event → Parallel Gateway «Dividir trabajo» con dos salidas (una por lane).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En cada lane: User Task Espera Revolvedora → Mezcla → Transporte (Carretilla) → Moldeo → Hidratación.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Parallel Gateway convergente que recibe ambas hidrataciones → Task Secado → Retiro → Service Task Almacén → End.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Properties de cada User Task: nombre visible; Assignee o Candidate groups = actor del lane.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Alinear elementos, evitar cruces de flechas; guardar como .bpmn (BPMN 2.0).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Validar con el checker del modeler; corregir flujos sin source/target.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9834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Para simular: instalar plugin Token Simulation o desplegar el .bpmn en Camunda Platform/Run y crear instancias.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54864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Entregable: archivo .bpmn + captura del diagrama validado + nota de que la simulación dinámica requiere plugin/motor.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16. Manual de desarrollador · Bonita (paso a paso)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New Project en Bonita Studio; nombre Bloquera. Definir Organization con actores: DonJose, Victor, PersonalRetiro.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New Diagram BPMN; asociar lanes a los actores de la organización.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Dibujar Start → Parallel Gateway → ramas DJ y VT (Espera, Mezcla, Transporte, Moldeo, Hidratación).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Gateway de unión → Secado → Retiro (actor PersonalRetiro) → Almacén → End.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En cada User Task: pestaña Actors → seleccionar el actor del lane correspondiente.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(Opcional) Variables de proceso: bolsasDj, bolsasVt, almacenBloques; contratos de entrada/salida simples.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Configurar actor mapping de prueba (usuario Studio → actor DonJose/Victor).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Run → desplegar en Bonita Runtime; ejecutar una instancia y completar tareas desde el portal.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9834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Exportar proyecto (.bos) o diagrama para evidencia. Documentar que la curva de aprendizaje es la más alta.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54864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Entregable: proyecto/diagrama + listado de actores + captura de una instancia ejecutada.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17. Manual de desarrollador · Bizagi (paso a paso)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New Model en Bizagi Modeler; título Industria Bloquera del Sureste.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Insertar Pool; crear dos Lanes: Cuadrilla Don José y Cuadrilla Víctor (opcional lane Retiro).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Arrastrar Start Event, Exclusive o Parallel Gateway «Dividir trabajo».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En cada lane: Tasks Espera Revolvedora, Mezcla, Transporte (Carretilla), Moldeo, Hidratación.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Gateway convergente → Task Secado → Retiro → Almacén → End Event.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Conectar todos los Sequence Flow; revisar que no queden elementos sin entrada/salida.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Asignar nombres claros; en Properties indicar rol/recurso cuando el modelo lo permita.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Ejecutar validación BPMN del Modeler; corregir errores de notación.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9834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Exportar a .bpmn y a PDF para el entregable D1 / evidencia del proyecto integrador.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54864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(Opcional Studio) Configurar simulación de tiempos; en Modeler free el foco es documentación visual.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 Resultados y escenarios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36576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Bolsas DJ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8" name="Text 6"/>
          <p:cNvSpPr/>
          <p:nvPr/>
        </p:nvSpPr>
        <p:spPr>
          <a:xfrm>
            <a:off x="233172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Bolsas VT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11" name="Text 9"/>
          <p:cNvSpPr/>
          <p:nvPr/>
        </p:nvSpPr>
        <p:spPr>
          <a:xfrm>
            <a:off x="429768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2650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14" name="Text 12"/>
          <p:cNvSpPr/>
          <p:nvPr/>
        </p:nvSpPr>
        <p:spPr>
          <a:xfrm>
            <a:off x="626364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99.5%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Util. DJ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17" name="Text 15"/>
          <p:cNvSpPr/>
          <p:nvPr/>
        </p:nvSpPr>
        <p:spPr>
          <a:xfrm>
            <a:off x="822960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96.5%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Util. VT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9556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20" name="Text 18"/>
          <p:cNvSpPr/>
          <p:nvPr/>
        </p:nvSpPr>
        <p:spPr>
          <a:xfrm>
            <a:off x="1019556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 min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9556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Espera VT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E8EAF6"/>
          </a:solidFill>
        </p:spPr>
      </p:sp>
      <p:sp>
        <p:nvSpPr>
          <p:cNvPr id="23" name="Text 21"/>
          <p:cNvSpPr/>
          <p:nvPr/>
        </p:nvSpPr>
        <p:spPr>
          <a:xfrm>
            <a:off x="594360" y="26060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2898648"/>
            <a:ext cx="5212080" cy="2697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revolvedora compartida.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Espera medida (cuello de botella).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Víctor acumula más espera.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 de comparación.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Coincide con la operación real.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5146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E8F5E9"/>
          </a:solidFill>
        </p:spPr>
      </p:sp>
      <p:sp>
        <p:nvSpPr>
          <p:cNvPr id="26" name="Text 24"/>
          <p:cNvSpPr/>
          <p:nvPr/>
        </p:nvSpPr>
        <p:spPr>
          <a:xfrm>
            <a:off x="6355080" y="26060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2898648"/>
            <a:ext cx="5212080" cy="2697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revolvedoras dedicadas.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 espera en mezcla.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Mayor paralelismo.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Mejora medible de capacidad.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Propuesta de mejora del proyecto.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19. Fuentes de información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 OMG (2011). Business Process Model and Notation (BPMN) Version 2.0. Object Management Group.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 Camunda. Documentation Camunda Modeler y Camunda Platform. https://docs.camunda.io · https://camunda.com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 Bonitasoft. Bonita Studio Community Documentation. https://documentation.bonitasoft.com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 Bizagi. Bizagi Modeler User Guide. https://www.bizagi.com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20040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 PeerSpot / G2 (2024–2026). Comparativas Bizagi vs Bonita vs Camunda.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74904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 Tecnológico Nacional de México. Instrumentación didáctica SCD-1022 Simulación. Ago–Dic 2026.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29768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 Documentos del proyecto: D1 Diagrama, D2 Tabla de tiempos, D3 Diseño, D4 Simulación, D5 Cambios.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84632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 Mediciones de planta (mezcla, carretilla, moldeo, retiro) registradas por el ejecutor.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539496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 OpenJFX 21. https://openjfx.io — Canvas, AnimationTimer, FXML.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 Anexo ·</a:t>
            </a:r>
            <a:r>
              <a:rPr lang="es-MX" alt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Enlace De </a:t>
            </a: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112471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835"/>
            <a:ext cx="11247120" cy="27425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 / 26</a:t>
            </a:r>
            <a:endParaRPr lang="en-US" sz="900" dirty="0"/>
          </a:p>
        </p:txBody>
      </p:sp>
      <p:sp>
        <p:nvSpPr>
          <p:cNvPr id="11" name="Cuadro de texto 10"/>
          <p:cNvSpPr txBox="1"/>
          <p:nvPr/>
        </p:nvSpPr>
        <p:spPr>
          <a:xfrm>
            <a:off x="2588895" y="3125470"/>
            <a:ext cx="5876290" cy="577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MX"/>
              <a:t>https://github.com/angelmalu18/Sim-Tema_5-031026.git</a:t>
            </a:r>
            <a:endParaRPr lang="en-US" altLang="es-MX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21. Conclusiones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594360" y="111556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 Se integró modelado BPMN 2.0, simulación JavaFX y las tres herramientas BPM en un solo proyecto documentado.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</p:spPr>
      </p:sp>
      <p:sp>
        <p:nvSpPr>
          <p:cNvPr id="7" name="Text 5"/>
          <p:cNvSpPr/>
          <p:nvPr/>
        </p:nvSpPr>
        <p:spPr>
          <a:xfrm>
            <a:off x="594360" y="193852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 Los manuales de usuario y de desarrollador cubren de forma obligatoria JavaFX, Camunda, Bonita y Bizagi.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8EAF6"/>
          </a:solidFill>
        </p:spPr>
      </p:sp>
      <p:sp>
        <p:nvSpPr>
          <p:cNvPr id="9" name="Text 7"/>
          <p:cNvSpPr/>
          <p:nvPr/>
        </p:nvSpPr>
        <p:spPr>
          <a:xfrm>
            <a:off x="594360" y="276148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 Camunda requiere plugins/motor para simular; Bonita es la más compleja; Bizagi facilita el modelado visual.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</p:spPr>
      </p:sp>
      <p:sp>
        <p:nvSpPr>
          <p:cNvPr id="11" name="Text 9"/>
          <p:cNvSpPr/>
          <p:nvPr/>
        </p:nvSpPr>
        <p:spPr>
          <a:xfrm>
            <a:off x="594360" y="358444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 Los actores (Don José, Víctor) son obligatorios en lanes/User Tasks para procesos ejecutables.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8EAF6"/>
          </a:solidFill>
        </p:spPr>
      </p:sp>
      <p:sp>
        <p:nvSpPr>
          <p:cNvPr id="13" name="Text 11"/>
          <p:cNvSpPr/>
          <p:nvPr/>
        </p:nvSpPr>
        <p:spPr>
          <a:xfrm>
            <a:off x="594360" y="440740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 El Escenario 2 (segunda revolvedora) elimina el cuello de botella de mezcla y mejora la capacidad.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</p:spPr>
      </p:sp>
      <p:sp>
        <p:nvSpPr>
          <p:cNvPr id="15" name="Text 13"/>
          <p:cNvSpPr/>
          <p:nvPr/>
        </p:nvSpPr>
        <p:spPr>
          <a:xfrm>
            <a:off x="594360" y="523036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 Git y las fuentes permiten reproducir, citar y auditar todo el trabajo del proyecto integrador.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5CA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Simulación SCD-1022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5CA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Industria Bloquera del Sureste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Manuales de usuario y desarrollador: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 · Camunda · Bonita · Bizagi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A8D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José Ángel Gómez Rincón · Agosto–Diciembre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17081</Words>
  <Application>WPS Presentation</Application>
  <PresentationFormat>On-screen Show (16:9)</PresentationFormat>
  <Paragraphs>690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SimSun</vt:lpstr>
      <vt:lpstr>Wingdings</vt:lpstr>
      <vt:lpstr>Arial</vt:lpstr>
      <vt:lpstr>Arial</vt:lpstr>
      <vt:lpstr>Calibri</vt:lpstr>
      <vt:lpstr>Times New Roman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 - Simulacion Industria Bloquera del Sureste</dc:title>
  <dc:creator>Jose Angel Gomez Rincon</dc:creator>
  <dc:subject>PptxGenJS Presentation</dc:subject>
  <cp:lastModifiedBy>EVIL RABYT</cp:lastModifiedBy>
  <cp:revision>5</cp:revision>
  <dcterms:created xsi:type="dcterms:W3CDTF">2026-10-03T06:09:00Z</dcterms:created>
  <dcterms:modified xsi:type="dcterms:W3CDTF">2026-10-03T06:42:50Z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05CEDD15AC7A41A6B60857DF9C2D8B95_13</vt:lpwstr>
  </property>
  <property fmtid="{D5CDD505-2E9C-101B-9397-08002B2CF9AE}" pid="3" name="KSOProductBuildVer">
    <vt:lpwstr>2058-12.1.0.28485</vt:lpwstr>
  </property>
</Properties>
</file>